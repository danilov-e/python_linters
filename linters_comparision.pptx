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54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этом докладе я расскажу про несколько самых известных линтеров в</a:t>
            </a:r>
            <a:r>
              <a:rPr lang="ru-RU" baseline="0" dirty="0" smtClean="0"/>
              <a:t> языке </a:t>
            </a:r>
            <a:r>
              <a:rPr lang="en-US" baseline="0" dirty="0" smtClean="0"/>
              <a:t>Python</a:t>
            </a:r>
            <a:r>
              <a:rPr lang="ru-RU" baseline="0" dirty="0" smtClean="0"/>
              <a:t>: </a:t>
            </a:r>
            <a:r>
              <a:rPr lang="en-US" baseline="0" dirty="0" smtClean="0"/>
              <a:t>Ruff, Flake8 </a:t>
            </a:r>
            <a:r>
              <a:rPr lang="ru-RU" baseline="0" dirty="0" smtClean="0"/>
              <a:t>и </a:t>
            </a:r>
            <a:r>
              <a:rPr lang="en-US" baseline="0" dirty="0" err="1" smtClean="0"/>
              <a:t>Pylint</a:t>
            </a:r>
            <a:r>
              <a:rPr lang="en-US" baseline="0" dirty="0" smtClean="0"/>
              <a:t>.</a:t>
            </a:r>
            <a:endParaRPr lang="ru-RU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Вообще, с</a:t>
            </a:r>
            <a:r>
              <a:rPr lang="ru-RU" baseline="0" dirty="0" smtClean="0"/>
              <a:t> линтерами мы познакомились ещё на курсе по </a:t>
            </a:r>
            <a:r>
              <a:rPr lang="en-US" baseline="0" dirty="0" smtClean="0"/>
              <a:t>C++, </a:t>
            </a:r>
            <a:r>
              <a:rPr lang="ru-RU" baseline="0" dirty="0" smtClean="0"/>
              <a:t>поэтому эта тема не должна быть новой. Но для тех, кто забыл, напомню: </a:t>
            </a:r>
          </a:p>
          <a:p>
            <a:r>
              <a:rPr lang="ru-RU" baseline="0" dirty="0" smtClean="0"/>
              <a:t>Линтер – это инструмент статического анализа, который проверяет исходный код без самого запуска программы. Если проще – он помогает находить ошибки, подозрительные конструкции и нарушения принятых правил.</a:t>
            </a:r>
          </a:p>
          <a:p>
            <a:r>
              <a:rPr lang="ru-RU" baseline="0" dirty="0" smtClean="0"/>
              <a:t>Однако стоит понимать, что не все недочёты, на которые указывает линтер, обязательно уронят программу с ошибкой при запуске – это может быть простая стилистическая ошибка вроде отсутствия пробелов вокруг операторов.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Несмотря на то, что в курсе по плюсам мы вызывали</a:t>
            </a:r>
            <a:r>
              <a:rPr lang="ru-RU" baseline="0" dirty="0" smtClean="0"/>
              <a:t> линтер из терминала, в индустрии это не делает обычно никто – зачастую его встраивают в процесс разработки: в разные </a:t>
            </a:r>
            <a:r>
              <a:rPr lang="ru-RU" baseline="0" dirty="0" err="1" smtClean="0"/>
              <a:t>идеешки</a:t>
            </a:r>
            <a:r>
              <a:rPr lang="ru-RU" baseline="0" dirty="0" smtClean="0"/>
              <a:t>, перед </a:t>
            </a:r>
            <a:r>
              <a:rPr lang="ru-RU" baseline="0" dirty="0" err="1" smtClean="0"/>
              <a:t>коммитами</a:t>
            </a:r>
            <a:r>
              <a:rPr lang="ru-RU" baseline="0" dirty="0" smtClean="0"/>
              <a:t> (можно настроить хуки) или в </a:t>
            </a:r>
            <a:r>
              <a:rPr lang="en-US" baseline="0" dirty="0" smtClean="0"/>
              <a:t>GitHub Actions</a:t>
            </a:r>
            <a:r>
              <a:rPr lang="ru-RU" baseline="0" dirty="0" smtClean="0"/>
              <a:t>. Однако во время доклада запускать я буду линтеры именно через </a:t>
            </a:r>
            <a:r>
              <a:rPr lang="en-US" baseline="0" dirty="0" smtClean="0"/>
              <a:t>PowerShell</a:t>
            </a:r>
            <a:r>
              <a:rPr lang="ru-RU" baseline="0" dirty="0" smtClean="0"/>
              <a:t> для наглядности.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Я</a:t>
            </a:r>
            <a:r>
              <a:rPr lang="ru-RU" baseline="0" dirty="0" smtClean="0"/>
              <a:t> подготовил небольшой </a:t>
            </a:r>
            <a:r>
              <a:rPr lang="ru-RU" baseline="0" dirty="0" err="1" smtClean="0"/>
              <a:t>репозиторий</a:t>
            </a:r>
            <a:r>
              <a:rPr lang="ru-RU" baseline="0" dirty="0" smtClean="0"/>
              <a:t>, в котором лежат некоторые проблемные файлы, которые будут анализировать наши линтеры и примеры </a:t>
            </a:r>
            <a:r>
              <a:rPr lang="ru-RU" baseline="0" dirty="0" err="1" smtClean="0"/>
              <a:t>конфигов</a:t>
            </a:r>
            <a:r>
              <a:rPr lang="ru-RU" baseline="0" dirty="0" smtClean="0"/>
              <a:t> для них, а также эта презентация.</a:t>
            </a:r>
          </a:p>
          <a:p>
            <a:r>
              <a:rPr lang="ru-RU" baseline="0" dirty="0" smtClean="0"/>
              <a:t>- Показать два файла: первый и второй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Начнём с своего</a:t>
            </a:r>
            <a:r>
              <a:rPr lang="ru-RU" baseline="0" dirty="0" smtClean="0"/>
              <a:t> рода «золотого стандарта» прошлых лет – </a:t>
            </a:r>
            <a:r>
              <a:rPr lang="en-US" baseline="0" dirty="0" smtClean="0"/>
              <a:t>Flake8. </a:t>
            </a:r>
            <a:r>
              <a:rPr lang="ru-RU" baseline="0" dirty="0" smtClean="0"/>
              <a:t>Важно понимать, что </a:t>
            </a:r>
            <a:r>
              <a:rPr lang="en-US" baseline="0" dirty="0" smtClean="0"/>
              <a:t>Flake8 </a:t>
            </a:r>
            <a:r>
              <a:rPr lang="ru-RU" baseline="0" dirty="0" smtClean="0"/>
              <a:t>возник не как самостоятельный инструмент, а скорее как оболочка вокруг трёх утилит: </a:t>
            </a:r>
            <a:r>
              <a:rPr lang="ru-RU" dirty="0" err="1" smtClean="0"/>
              <a:t>Pyflakes</a:t>
            </a:r>
            <a:r>
              <a:rPr lang="ru-RU" dirty="0" smtClean="0"/>
              <a:t> (логика), pep8/</a:t>
            </a:r>
            <a:r>
              <a:rPr lang="ru-RU" dirty="0" err="1" smtClean="0"/>
              <a:t>pycodestyle</a:t>
            </a:r>
            <a:r>
              <a:rPr lang="ru-RU" dirty="0" smtClean="0"/>
              <a:t> (стиль) и </a:t>
            </a:r>
            <a:r>
              <a:rPr lang="ru-RU" dirty="0" err="1" smtClean="0"/>
              <a:t>mccabe</a:t>
            </a:r>
            <a:r>
              <a:rPr lang="ru-RU" dirty="0" smtClean="0"/>
              <a:t> (сложность кода). Его главная особенность – это огромная расширяемость</a:t>
            </a:r>
            <a:r>
              <a:rPr lang="ru-RU" baseline="0" dirty="0" smtClean="0"/>
              <a:t> через плагины. «Сырым» </a:t>
            </a:r>
            <a:r>
              <a:rPr lang="en-US" baseline="0" dirty="0" smtClean="0"/>
              <a:t>Flake8 </a:t>
            </a:r>
            <a:r>
              <a:rPr lang="ru-RU" baseline="0" dirty="0" smtClean="0"/>
              <a:t>в индустрии пользуются очень редко – зачастую он обрастает большим количеством плагинов.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Начать</a:t>
            </a:r>
            <a:r>
              <a:rPr lang="ru-RU" baseline="0" dirty="0" smtClean="0"/>
              <a:t> работать с этим линтером довольно просто – необходимо лишь установить его.</a:t>
            </a:r>
          </a:p>
          <a:p>
            <a:r>
              <a:rPr lang="ru-RU" baseline="0" dirty="0" smtClean="0"/>
              <a:t>Здесь переключиться в </a:t>
            </a:r>
            <a:r>
              <a:rPr lang="en-US" baseline="0" dirty="0" smtClean="0"/>
              <a:t>PowerShell.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Показать, файлы </a:t>
            </a:r>
            <a:r>
              <a:rPr lang="en-US" baseline="0" dirty="0" smtClean="0"/>
              <a:t>ls </a:t>
            </a:r>
            <a:r>
              <a:rPr lang="ru-RU" baseline="0" dirty="0" smtClean="0"/>
              <a:t>и установленные библиотеки </a:t>
            </a:r>
            <a:r>
              <a:rPr lang="en-US" baseline="0" dirty="0" smtClean="0"/>
              <a:t>pip list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Запустить проверку: </a:t>
            </a:r>
            <a:r>
              <a:rPr lang="en-US" baseline="0" dirty="0" smtClean="0"/>
              <a:t>flake8 messy_code.py (</a:t>
            </a:r>
            <a:r>
              <a:rPr lang="ru-RU" baseline="0" dirty="0" smtClean="0"/>
              <a:t>можно отметить, что на месте файла может стоять директория или .)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Показать, что можно запустить с параметрами </a:t>
            </a:r>
            <a:r>
              <a:rPr lang="en-US" baseline="0" dirty="0" smtClean="0"/>
              <a:t>flake8  - -ignore E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Сказать, что запускать с параметрами довольно накладно и позже я покажу, как настроить </a:t>
            </a:r>
            <a:r>
              <a:rPr lang="ru-RU" baseline="0" dirty="0" err="1" smtClean="0"/>
              <a:t>конфиг</a:t>
            </a:r>
            <a:endParaRPr lang="ru-RU" baseline="0" dirty="0" smtClean="0"/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Переход к тому, чтобы читать ошибки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Поговорим</a:t>
            </a:r>
            <a:r>
              <a:rPr lang="ru-RU" baseline="0" dirty="0" smtClean="0"/>
              <a:t> о том, как читать префиксы кодов ошибок</a:t>
            </a:r>
            <a:r>
              <a:rPr lang="en-US" baseline="0" dirty="0" smtClean="0"/>
              <a:t> flake8. 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(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W (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Warnings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dirty="0" smtClean="0"/>
              <a:t> — генерируются встроенным инструментом 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pycodestyle</a:t>
            </a:r>
            <a:r>
              <a:rPr lang="ru-RU" dirty="0" smtClean="0"/>
              <a:t>. Они указывают на нарушения стиля кода согласно 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PEP 8</a:t>
            </a:r>
            <a:r>
              <a:rPr lang="ru-RU" dirty="0" smtClean="0"/>
              <a:t> (например, неправильные отступы, лишние пробелы, слишком длинные строки).</a:t>
            </a:r>
            <a:r>
              <a:rPr lang="en-US" dirty="0" smtClean="0"/>
              <a:t> 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(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Failures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dirty="0" smtClean="0"/>
              <a:t> — генерируются инструментом 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PyFlakes</a:t>
            </a:r>
            <a:r>
              <a:rPr lang="ru-RU" dirty="0" smtClean="0"/>
              <a:t>. Они указывают на логические ошибки и потенциальные баги, которые могут сломать программу (например, неиспользуемые импорты, обращение к неопределенной переменной, дублирование аргументов).</a:t>
            </a:r>
            <a:r>
              <a:rPr lang="en-US" dirty="0" smtClean="0"/>
              <a:t> 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(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Complexity</a:t>
            </a:r>
            <a:r>
              <a:rPr lang="ru-RU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генерируются встроенным анализатором </a:t>
            </a:r>
            <a:r>
              <a:rPr lang="ru-RU" sz="1200" b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McCabe</a:t>
            </a:r>
            <a:r>
              <a:rPr lang="ru-RU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Указывают на слишком высокую цикломатическую сложность кода (например, слишком много вложенных циклов </a:t>
            </a:r>
            <a:r>
              <a:rPr lang="ru-RU" sz="1200" b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ru-RU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ru-RU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одной функции, что делает её трудной для понимания).</a:t>
            </a:r>
            <a:r>
              <a:rPr 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</a:t>
            </a:r>
            <a:r>
              <a:rPr lang="ru-RU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 можете увидеть несколько других префиксов: </a:t>
            </a:r>
            <a:r>
              <a:rPr lang="en-US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A, D</a:t>
            </a:r>
            <a:r>
              <a:rPr lang="ru-RU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сам </a:t>
            </a:r>
            <a:r>
              <a:rPr lang="en-US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flake8 </a:t>
            </a:r>
            <a:r>
              <a:rPr lang="ru-RU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выкидывает таких кодов ошибок – это коды плагинов, которые можно (и зачастую нужно) установить вместе с </a:t>
            </a:r>
            <a:r>
              <a:rPr lang="en-US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flake8. </a:t>
            </a:r>
            <a:r>
              <a:rPr lang="ru-RU" sz="1200" b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Перейдём к ним.</a:t>
            </a:r>
            <a:endParaRPr lang="ru-RU" sz="1200" b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Зачастую</a:t>
            </a:r>
            <a:r>
              <a:rPr lang="ru-RU" baseline="0" dirty="0" smtClean="0"/>
              <a:t> стандартных проверок бывает недостаточно – тогда мы можем установить плагины – пакеты, которые подключают дополнительные проверки. Например, установим три из них и посмотрим, что изменится. </a:t>
            </a:r>
          </a:p>
          <a:p>
            <a:r>
              <a:rPr lang="ru-RU" baseline="0" dirty="0" smtClean="0"/>
              <a:t>Перейти в </a:t>
            </a:r>
            <a:r>
              <a:rPr lang="en-US" baseline="0" dirty="0" err="1" smtClean="0"/>
              <a:t>powershell</a:t>
            </a:r>
            <a:endParaRPr lang="en-US" baseline="0" dirty="0" smtClean="0"/>
          </a:p>
          <a:p>
            <a:r>
              <a:rPr lang="en-US" baseline="0" dirty="0" smtClean="0"/>
              <a:t>-pip install flake8-bugbear</a:t>
            </a:r>
          </a:p>
          <a:p>
            <a:r>
              <a:rPr lang="en-US" baseline="0" dirty="0" smtClean="0"/>
              <a:t>-pip install flake8-builtins</a:t>
            </a:r>
          </a:p>
          <a:p>
            <a:r>
              <a:rPr lang="en-US" baseline="0" dirty="0" smtClean="0"/>
              <a:t>-pip install flake8-docstrings</a:t>
            </a:r>
          </a:p>
          <a:p>
            <a:r>
              <a:rPr lang="en-US" baseline="0" dirty="0" smtClean="0"/>
              <a:t>-</a:t>
            </a:r>
            <a:r>
              <a:rPr lang="ru-RU" baseline="0" dirty="0" smtClean="0"/>
              <a:t>запустить </a:t>
            </a:r>
            <a:r>
              <a:rPr lang="en-US" baseline="0" dirty="0" smtClean="0"/>
              <a:t>flake8 messy_code.py </a:t>
            </a:r>
            <a:r>
              <a:rPr lang="ru-RU" baseline="0" dirty="0" smtClean="0"/>
              <a:t>и показать новые коды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Стандартные</a:t>
            </a:r>
            <a:r>
              <a:rPr lang="ru-RU" baseline="0" dirty="0" smtClean="0"/>
              <a:t> правила проверок, заложенные в </a:t>
            </a:r>
            <a:r>
              <a:rPr lang="en-US" baseline="0" dirty="0" smtClean="0"/>
              <a:t>flake8 </a:t>
            </a:r>
            <a:r>
              <a:rPr lang="ru-RU" baseline="0" dirty="0" smtClean="0"/>
              <a:t>не всегда бывают подходящими для вашего проекта, а проводить каждый запуск с огромным количеством параметров бывает неудобно. Поэтому стоит использовать </a:t>
            </a:r>
            <a:r>
              <a:rPr lang="ru-RU" baseline="0" dirty="0" err="1" smtClean="0"/>
              <a:t>конфиг</a:t>
            </a:r>
            <a:r>
              <a:rPr lang="ru-RU" baseline="0" dirty="0" smtClean="0"/>
              <a:t>, позволяющий изменять правила проверки.</a:t>
            </a:r>
          </a:p>
          <a:p>
            <a:r>
              <a:rPr lang="ru-RU" baseline="0" dirty="0" smtClean="0"/>
              <a:t>- Переключиться на </a:t>
            </a:r>
            <a:r>
              <a:rPr lang="en-US" baseline="0" dirty="0" err="1" smtClean="0"/>
              <a:t>powershell</a:t>
            </a:r>
            <a:r>
              <a:rPr lang="ru-RU" baseline="0" dirty="0" smtClean="0"/>
              <a:t>, открыть </a:t>
            </a:r>
            <a:r>
              <a:rPr lang="ru-RU" baseline="0" dirty="0" err="1" smtClean="0"/>
              <a:t>конфиг</a:t>
            </a:r>
            <a:r>
              <a:rPr lang="ru-RU" baseline="0" dirty="0" smtClean="0"/>
              <a:t> и убрать некоторые комментарии. Также показать, что отдельно можно настраивать плагины в </a:t>
            </a:r>
            <a:r>
              <a:rPr lang="ru-RU" baseline="0" dirty="0" err="1" smtClean="0"/>
              <a:t>конфиге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Теперь</a:t>
            </a:r>
            <a:r>
              <a:rPr lang="ru-RU" baseline="0" dirty="0" smtClean="0"/>
              <a:t> поговорим об одном из самых старых линтеров языка Питон – </a:t>
            </a:r>
            <a:r>
              <a:rPr lang="en-US" baseline="0" dirty="0" err="1" smtClean="0"/>
              <a:t>Pylint</a:t>
            </a:r>
            <a:r>
              <a:rPr lang="ru-RU" baseline="0" dirty="0" smtClean="0"/>
              <a:t>, первая версия которого вышла в общий доступ аж в 2003 году. В отличие от </a:t>
            </a:r>
            <a:r>
              <a:rPr lang="en-US" baseline="0" dirty="0" smtClean="0"/>
              <a:t>flake8 </a:t>
            </a:r>
            <a:r>
              <a:rPr lang="en-US" baseline="0" dirty="0" err="1" smtClean="0"/>
              <a:t>pylint</a:t>
            </a:r>
            <a:r>
              <a:rPr lang="en-US" baseline="0" dirty="0" smtClean="0"/>
              <a:t> </a:t>
            </a:r>
            <a:r>
              <a:rPr lang="ru-RU" baseline="0" dirty="0" smtClean="0"/>
              <a:t>проверяет не только стиль и потенциальные ошибки, но также анализирует структуру функций и классов, имеет разные метрики и делит сообщения на категории.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Интересная особенность </a:t>
            </a:r>
            <a:r>
              <a:rPr lang="en-US" dirty="0" err="1" smtClean="0"/>
              <a:t>Pylint</a:t>
            </a:r>
            <a:r>
              <a:rPr lang="en-US" dirty="0" smtClean="0"/>
              <a:t> – </a:t>
            </a:r>
            <a:r>
              <a:rPr lang="ru-RU" dirty="0" smtClean="0"/>
              <a:t>это оценка кода, который он выводит после каждого анализа. Однако ориентироваться на него стоит не всегда, так как он очень зависит от </a:t>
            </a:r>
            <a:r>
              <a:rPr lang="ru-RU" dirty="0" err="1" smtClean="0"/>
              <a:t>конфига</a:t>
            </a:r>
            <a:r>
              <a:rPr lang="ru-RU" dirty="0" smtClean="0"/>
              <a:t>.</a:t>
            </a:r>
            <a:r>
              <a:rPr lang="ru-RU" baseline="0" dirty="0" smtClean="0"/>
              <a:t> Немаловажно, что </a:t>
            </a:r>
            <a:r>
              <a:rPr lang="en-US" baseline="0" dirty="0" err="1" smtClean="0"/>
              <a:t>pylint</a:t>
            </a:r>
            <a:r>
              <a:rPr lang="en-US" baseline="0" dirty="0" smtClean="0"/>
              <a:t> </a:t>
            </a:r>
            <a:r>
              <a:rPr lang="ru-RU" baseline="0" dirty="0" smtClean="0"/>
              <a:t>способен выводить отчёт в разных форматах.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Как и </a:t>
            </a:r>
            <a:r>
              <a:rPr lang="en-US" dirty="0" smtClean="0"/>
              <a:t>flake8,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pylint</a:t>
            </a:r>
            <a:r>
              <a:rPr lang="en-US" baseline="0" dirty="0" smtClean="0"/>
              <a:t> </a:t>
            </a:r>
            <a:r>
              <a:rPr lang="ru-RU" baseline="0" dirty="0" smtClean="0"/>
              <a:t>умеет подключать плагины: как свои (встроенные), так и внешние. 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Перейти в </a:t>
            </a:r>
            <a:r>
              <a:rPr lang="en-US" baseline="0" dirty="0" err="1" smtClean="0"/>
              <a:t>powershell</a:t>
            </a:r>
            <a:r>
              <a:rPr lang="en-US" baseline="0" dirty="0" smtClean="0"/>
              <a:t>. </a:t>
            </a:r>
            <a:endParaRPr lang="ru-RU" baseline="0" dirty="0" smtClean="0"/>
          </a:p>
          <a:p>
            <a:pPr marL="171450" indent="-171450">
              <a:buFontTx/>
              <a:buChar char="-"/>
            </a:pPr>
            <a:r>
              <a:rPr lang="en-US" dirty="0" err="1" smtClean="0"/>
              <a:t>Pylint</a:t>
            </a:r>
            <a:r>
              <a:rPr lang="en-US" dirty="0" smtClean="0"/>
              <a:t> messy_code.py</a:t>
            </a:r>
          </a:p>
          <a:p>
            <a:pPr marL="171450" indent="-171450">
              <a:buFontTx/>
              <a:buChar char="-"/>
            </a:pPr>
            <a:r>
              <a:rPr lang="ru-RU" dirty="0" smtClean="0"/>
              <a:t>Поиграть</a:t>
            </a:r>
            <a:r>
              <a:rPr lang="ru-RU" baseline="0" dirty="0" smtClean="0"/>
              <a:t> с </a:t>
            </a:r>
            <a:r>
              <a:rPr lang="ru-RU" baseline="0" dirty="0" err="1" smtClean="0"/>
              <a:t>конфигом</a:t>
            </a:r>
            <a:r>
              <a:rPr lang="ru-RU" baseline="0" dirty="0" smtClean="0"/>
              <a:t> </a:t>
            </a:r>
            <a:r>
              <a:rPr lang="en-US" baseline="0" dirty="0" smtClean="0"/>
              <a:t>notepad .</a:t>
            </a:r>
            <a:r>
              <a:rPr lang="en-US" baseline="0" dirty="0" err="1" smtClean="0"/>
              <a:t>pylintrc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Теперь перейдём</a:t>
            </a:r>
            <a:r>
              <a:rPr lang="ru-RU" baseline="0" dirty="0" smtClean="0"/>
              <a:t> к одному из самых новых линтеров: </a:t>
            </a:r>
            <a:r>
              <a:rPr lang="en-US" baseline="0" dirty="0" smtClean="0"/>
              <a:t>Ruff. </a:t>
            </a:r>
            <a:r>
              <a:rPr lang="ru-RU" baseline="0" dirty="0" smtClean="0"/>
              <a:t>Его главными преимуществами являются невероятная скорость (т.к. он написан на </a:t>
            </a:r>
            <a:r>
              <a:rPr lang="ru-RU" baseline="0" dirty="0" err="1" smtClean="0"/>
              <a:t>раст</a:t>
            </a:r>
            <a:r>
              <a:rPr lang="ru-RU" baseline="0" dirty="0" smtClean="0"/>
              <a:t>), огромное количество правил для проверки (более </a:t>
            </a:r>
            <a:r>
              <a:rPr lang="ru-RU" baseline="0" dirty="0" err="1" smtClean="0"/>
              <a:t>девятиста</a:t>
            </a:r>
            <a:r>
              <a:rPr lang="ru-RU" baseline="0" dirty="0" smtClean="0"/>
              <a:t>) и расширенный функционал: он способен автоматически </a:t>
            </a:r>
            <a:r>
              <a:rPr lang="ru-RU" baseline="0" dirty="0" err="1" smtClean="0"/>
              <a:t>фиксить</a:t>
            </a:r>
            <a:r>
              <a:rPr lang="ru-RU" baseline="0" dirty="0" smtClean="0"/>
              <a:t> ошибки (конечно, не все)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Рафф</a:t>
            </a:r>
            <a:r>
              <a:rPr lang="ru-RU" dirty="0" smtClean="0"/>
              <a:t> по использованию очень похож на другие линтеры,</a:t>
            </a:r>
            <a:r>
              <a:rPr lang="ru-RU" baseline="0" dirty="0" smtClean="0"/>
              <a:t> однако, как я уже сказал, он имеет особенность: он способен форматировать код, причём делает он это </a:t>
            </a:r>
            <a:r>
              <a:rPr lang="en-US" baseline="0" dirty="0" err="1" smtClean="0"/>
              <a:t>inplace</a:t>
            </a:r>
            <a:r>
              <a:rPr lang="en-US" baseline="0" dirty="0" smtClean="0"/>
              <a:t>.</a:t>
            </a:r>
            <a:endParaRPr lang="ru-RU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ruff check messy_code.py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 check messy_code.py</a:t>
            </a:r>
            <a:r>
              <a:rPr lang="en-US" sz="1200" baseline="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--diff</a:t>
            </a:r>
            <a:endParaRPr lang="en-US" sz="1200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 check messy_code.py --fix</a:t>
            </a:r>
            <a:endParaRPr lang="en-US" sz="1200" dirty="0" smtClean="0"/>
          </a:p>
          <a:p>
            <a:pPr marL="171450" indent="-171450">
              <a:buFontTx/>
              <a:buChar char="-"/>
            </a:pPr>
            <a:r>
              <a:rPr lang="en-US" dirty="0" smtClean="0"/>
              <a:t>ruff format messy_code.py --check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Так</a:t>
            </a:r>
            <a:r>
              <a:rPr lang="ru-RU" baseline="0" dirty="0" smtClean="0"/>
              <a:t> же, как другие линтеры, </a:t>
            </a:r>
            <a:r>
              <a:rPr lang="ru-RU" baseline="0" dirty="0" err="1" smtClean="0"/>
              <a:t>рафф</a:t>
            </a:r>
            <a:r>
              <a:rPr lang="ru-RU" baseline="0" dirty="0" smtClean="0"/>
              <a:t> поддаётся корректировке своих правил через </a:t>
            </a:r>
            <a:r>
              <a:rPr lang="ru-RU" baseline="0" dirty="0" err="1" smtClean="0"/>
              <a:t>конфиг</a:t>
            </a:r>
            <a:r>
              <a:rPr lang="ru-RU" baseline="0" dirty="0" smtClean="0"/>
              <a:t>. </a:t>
            </a:r>
            <a:r>
              <a:rPr lang="ru-RU" baseline="0" dirty="0" err="1" smtClean="0"/>
              <a:t>Рафф</a:t>
            </a:r>
            <a:r>
              <a:rPr lang="ru-RU" baseline="0" dirty="0" smtClean="0"/>
              <a:t>, как и </a:t>
            </a:r>
            <a:r>
              <a:rPr lang="ru-RU" baseline="0" dirty="0" err="1" smtClean="0"/>
              <a:t>пайлинт</a:t>
            </a:r>
            <a:r>
              <a:rPr lang="ru-RU" baseline="0" dirty="0" smtClean="0"/>
              <a:t>, в отличие от флейк8 </a:t>
            </a:r>
            <a:r>
              <a:rPr lang="ru-RU" baseline="0" dirty="0" err="1" smtClean="0"/>
              <a:t>парсят</a:t>
            </a:r>
            <a:r>
              <a:rPr lang="ru-RU" baseline="0" dirty="0" smtClean="0"/>
              <a:t> файл </a:t>
            </a:r>
            <a:r>
              <a:rPr lang="en-US" baseline="0" dirty="0" err="1" smtClean="0"/>
              <a:t>pyproject.toml</a:t>
            </a:r>
            <a:r>
              <a:rPr lang="en-US" baseline="0" dirty="0" smtClean="0"/>
              <a:t>, </a:t>
            </a:r>
            <a:r>
              <a:rPr lang="ru-RU" baseline="0" dirty="0" smtClean="0"/>
              <a:t>что очень удобно, чтобы держать все </a:t>
            </a:r>
            <a:r>
              <a:rPr lang="ru-RU" baseline="0" dirty="0" err="1" smtClean="0"/>
              <a:t>конфиги</a:t>
            </a:r>
            <a:r>
              <a:rPr lang="ru-RU" baseline="0" dirty="0" smtClean="0"/>
              <a:t> в одном месте, однако для наглядности я использовал другой файл, который </a:t>
            </a:r>
            <a:r>
              <a:rPr lang="ru-RU" baseline="0" dirty="0" err="1" smtClean="0"/>
              <a:t>рафф</a:t>
            </a:r>
            <a:r>
              <a:rPr lang="ru-RU" baseline="0" dirty="0" smtClean="0"/>
              <a:t> также </a:t>
            </a:r>
            <a:r>
              <a:rPr lang="ru-RU" baseline="0" dirty="0" err="1" smtClean="0"/>
              <a:t>парсит</a:t>
            </a:r>
            <a:r>
              <a:rPr lang="ru-RU" baseline="0" dirty="0" smtClean="0"/>
              <a:t>: </a:t>
            </a:r>
            <a:r>
              <a:rPr lang="en-US" baseline="0" dirty="0" smtClean="0"/>
              <a:t>.</a:t>
            </a:r>
            <a:r>
              <a:rPr lang="en-US" baseline="0" dirty="0" err="1" smtClean="0"/>
              <a:t>ruff.toml</a:t>
            </a:r>
            <a:r>
              <a:rPr lang="en-US" baseline="0" dirty="0" smtClean="0"/>
              <a:t>. </a:t>
            </a:r>
            <a:r>
              <a:rPr lang="ru-RU" baseline="0" dirty="0" err="1" smtClean="0"/>
              <a:t>Поизменять</a:t>
            </a:r>
            <a:r>
              <a:rPr lang="ru-RU" baseline="0" dirty="0" smtClean="0"/>
              <a:t>, поиграться.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Здесь представлена небольшая табличка</a:t>
            </a:r>
            <a:r>
              <a:rPr lang="ru-RU" baseline="0" dirty="0" smtClean="0"/>
              <a:t> различий, на которой я не хочу слишком долго останавливаться.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flake8 messy_benchmark.py *&gt; $null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</a:t>
            </a:r>
            <a:r>
              <a:rPr lang="en-US" sz="1200" dirty="0" err="1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pylint</a:t>
            </a: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messy_benchmark.py *&gt; $null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ruff check messy_benchmark.py *&gt; $null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 smtClean="0"/>
          </a:p>
          <a:p>
            <a:r>
              <a:rPr lang="ru-RU" dirty="0" smtClean="0"/>
              <a:t>Эксперименты на более объёмных данных показали, что </a:t>
            </a:r>
            <a:r>
              <a:rPr lang="ru-RU" dirty="0" err="1" smtClean="0"/>
              <a:t>рафф</a:t>
            </a:r>
            <a:r>
              <a:rPr lang="ru-RU" dirty="0" smtClean="0"/>
              <a:t> работает в 10-100 раз быстрее аналогов.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822960" cy="4572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линтеров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22128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· Flake8 · Pylint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28529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901952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1352" y="1993392"/>
            <a:ext cx="2752344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messy_code.py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messy_benchmark.py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5806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линтер?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Формальное и практическое определение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Формально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 статического анализа, который проверяет исходный код без запуска программы.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2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6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практике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2148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Помогает находить ошибки, подозрительные конструкции и нарушения принятых правил.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005072"/>
            <a:ext cx="3346704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name="Alice"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value == None: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4069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Программа может запуститься. Линтер всё равно может сказать, что код стоит изменить.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Линтер не обязательно запускать вручную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Его можно встроить в процесс разработки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41732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Редактор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Проблемы видны прямо во время написания кода.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41732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коммитом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hook может отменить commit, если проверка завершилась ошибкой.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41732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запускается автоматически на push или pull request.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64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ПРОСТЕЙШИЙ GIT HOOK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61880"/>
            <a:ext cx="4572000" cy="1600200"/>
          </a:xfrm>
          <a:prstGeom prst="roundRect">
            <a:avLst>
              <a:gd name="adj" fmla="val 342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80752"/>
            <a:ext cx="4261104" cy="1417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$? -ne 0 ]; then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4281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Идея: если линтер возвращает ошибку, Git не продолжает commit.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Наш эксперимент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каждым инструментом используем один и тот же код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86192"/>
            <a:ext cx="4992624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messy_code.py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небольшой файл с разными проблемами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6732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886192"/>
            <a:ext cx="4901184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messy_benchmark.py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большой файл для сравнения скорости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961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Сначала смотрим обычный запуск.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Потом меняем конфигурацию.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Плагины и дополнительные возможности рассматриваем отдельно.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 конце сравниваем результаты и скорость.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6520" y="3961880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4080752"/>
            <a:ext cx="4215384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  →  Pylint  →  Ruff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что это за подход?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один анализатор, а оболочка вокруг набора проверок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41732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pycodestyle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стиля и оформления.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41732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pyflakes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Неиспользуемые импорты, переменные и другие ошибки.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41732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mccabe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основная проверка цикломатической сложности.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870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особенность Flake8 — расширяемость через плагины.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955280" y="3550400"/>
            <a:ext cx="2834640" cy="1508760"/>
          </a:xfrm>
          <a:prstGeom prst="roundRect">
            <a:avLst>
              <a:gd name="adj" fmla="val 3636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3669272"/>
            <a:ext cx="2523744" cy="1325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базовые проверки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плагины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основные команды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Файл, каталог, параметры и справка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УСТАНОВКА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105648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4520"/>
            <a:ext cx="4489704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4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385808"/>
            <a:ext cx="4800600" cy="1325880"/>
          </a:xfrm>
          <a:prstGeom prst="roundRect">
            <a:avLst>
              <a:gd name="adj" fmla="val 4138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504680"/>
            <a:ext cx="4489704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messy_code.py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src/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5648"/>
            <a:ext cx="4983480" cy="1097280"/>
          </a:xfrm>
          <a:prstGeom prst="roundRect">
            <a:avLst>
              <a:gd name="adj" fmla="val 5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2224520"/>
            <a:ext cx="4672584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flake8 --ignore E501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flake8 --select E123 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504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СПРАВКА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3008"/>
            <a:ext cx="4983480" cy="1051560"/>
          </a:xfrm>
          <a:prstGeom prst="roundRect">
            <a:avLst>
              <a:gd name="adj" fmla="val 5217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961880"/>
            <a:ext cx="4672584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flake8 --help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4249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 же самое можно делать с конкретными файлами или со всей корневой директорией.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как читать результат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Коды ошибок показывают источник проверки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86192"/>
            <a:ext cx="5266944" cy="3108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</a:t>
            </a: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</a:t>
            </a: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</a:t>
            </a: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</a:t>
            </a: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Warnings</a:t>
            </a:r>
            <a:endParaRPr lang="en-US" sz="1500" dirty="0"/>
          </a:p>
          <a:p>
            <a:pPr marL="0" indent="0">
              <a:buNone/>
            </a:pP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</a:t>
            </a: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</a:t>
            </a: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</a:t>
            </a: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</a:t>
            </a:r>
            <a:r>
              <a:rPr lang="en-US" sz="1500" dirty="0" smtClean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B...   — правила flake8-bugbear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A...   — правила flake8-builtins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D...   — правила flake8-docstrings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199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Префикс помогает понять, откуда пришло правило.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Большую таблицу кодов запоминать не нужно.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Важно уметь найти правило в документации плагина.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455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74E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29400" y="487628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4995152"/>
            <a:ext cx="3849624" cy="59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something  # noqa: F401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516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подавить конкретное предупреждение на конкретной строке.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плагины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Дополнительные проверки подключаются пакетами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86192"/>
            <a:ext cx="5175504" cy="1325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flake8-bugbear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flake8-builtins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flake8-docstrings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767320"/>
            <a:ext cx="44805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767320"/>
            <a:ext cx="64008" cy="150876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19136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bugbear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784848" y="23342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Дополнительные проверки потенциально проблемных конструкций.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550400"/>
            <a:ext cx="44805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550400"/>
            <a:ext cx="64008" cy="128016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369670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builtins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84848" y="41173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затенения встроенных имён Python.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5104880"/>
            <a:ext cx="4480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5104880"/>
            <a:ext cx="64008" cy="123444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525118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docstrings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784848" y="5671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документации функций и классов.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8704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Плагин может приносить свои правила и собственные параметры конфигурации.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конфигурация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Отдельный конфиг проекта не требует pyproject.toml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 ищет конфигурацию в одном из поддерживаемых файлов: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1596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34832"/>
            <a:ext cx="3163824" cy="12801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.flake8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setup.cfg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tox.ini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2178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.FLAKE8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544560"/>
            <a:ext cx="6217920" cy="1645920"/>
          </a:xfrm>
          <a:prstGeom prst="roundRect">
            <a:avLst>
              <a:gd name="adj" fmla="val 3333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2663432"/>
            <a:ext cx="5907024" cy="1463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[flake8]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max-line-length = 100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max-complexity = 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extend-ignore = E501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476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 реальном проекте конфиг фиксирует общие правила </a:t>
            </a:r>
            <a:r>
              <a:rPr lang="en-US" sz="1700" dirty="0" err="1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команды</a:t>
            </a:r>
            <a:r>
              <a:rPr lang="en-US" sz="1700" dirty="0" smtClean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Pylint: другой уровень детализации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внимания к структуре и качеству программы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6400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Проверяет стиль и ошибки, но также анализирует структуру функций и классов.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Есть метрики: число аргументов, ветвлений, локальных переменных и т. п.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Сообщения делятся на категории, а не только на семейства правил.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88352" y="1856232"/>
            <a:ext cx="3346704" cy="960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messy_code.py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src/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43400"/>
            <a:ext cx="64008" cy="109728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4343400"/>
            <a:ext cx="64008" cy="109728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4436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4343400"/>
            <a:ext cx="64008" cy="109728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5604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343400"/>
            <a:ext cx="64008" cy="109728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96772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7824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4343400"/>
            <a:ext cx="64008" cy="109728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940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97940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Information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Pylint: score и форматы вывода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133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 может выводить итоговую оценку до 10.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77316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892032"/>
            <a:ext cx="4489704" cy="59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messy_code.py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8076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133080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2251952"/>
            <a:ext cx="4581144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--output-format=json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--output-format=github 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35961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— обычный вывод для человека.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 / json2 — удобно для автоматической обработки.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github — формат для GitHub Actions.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51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зависит от настроек и набора включённых сообщений, поэтому это не универсальный рейтинг.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Pylint: конфигурация и плагины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встроенные расширения и возможность подключать свои checker'ы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КОНФИГ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087360"/>
            <a:ext cx="5029200" cy="2651760"/>
          </a:xfrm>
          <a:prstGeom prst="roundRect">
            <a:avLst>
              <a:gd name="adj" fmla="val 206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06232"/>
            <a:ext cx="4718304" cy="2468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.pylintrc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[MESSAGES CONTROL]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 = ...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[DESIGN]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max-args = 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ВСТРОЕННОЕ РАСШИРЕНИЕ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087360"/>
            <a:ext cx="4709160" cy="1463040"/>
          </a:xfrm>
          <a:prstGeom prst="roundRect">
            <a:avLst>
              <a:gd name="adj" fmla="val 375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206232"/>
            <a:ext cx="4398264" cy="12801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load-plugins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pylint.extensions.docparams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91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ВНЕШНИЙ CHECKER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423620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4355072"/>
            <a:ext cx="4398264" cy="11887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load-plugins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mypackage.my_checker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6078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Кроме .pylintrc, Pylint умеет читать настройки из pyproject.toml и некоторых других конфигов.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Ruff: основная идея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Быстрый линтер, который закрывает большой набор проверок одним инструментом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50876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правил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Встроены десятки семейств, в том числе правила из экосистемы Flake8.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50876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CLI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Проверка, автоисправление и форматирование доступны через Ruff.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50876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Быстродействие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Реализован на Rust и рассчитан на быстрый запуск по большим деревьям файлов.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91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использует похожую систему кодов: например, F401 указывает на правило из семейства Pyflakes.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915400" y="373328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9992" y="3852152"/>
            <a:ext cx="1655064" cy="1645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E...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B...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I...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UP...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Ruff: команды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действия на одном экране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ПРОВЕРИТЬ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10564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4520"/>
            <a:ext cx="4443984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4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ТОЛЬКО ВЫБРАННЫЕ ПРАВИЛА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38580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504680"/>
            <a:ext cx="4443984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 --select E,F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 ИЗМЕНЕНИЯ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210564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224520"/>
            <a:ext cx="4443984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 --diff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80760" y="304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ИСПРАВИТЬ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338580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3504680"/>
            <a:ext cx="4443984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 --fix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60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ФОРМАТИРОВАТЬ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94028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059160"/>
            <a:ext cx="4443984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format 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0760" y="483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`--diff` показывает предлагаемые изменения; `--fix` применяет допустимые исправления.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Ruff: конфигурация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использовать отдельный файл или pyproject.toml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нашем эксперименте: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2452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43392"/>
            <a:ext cx="4809744" cy="1920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ruff.toml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[lint]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= ["E", "F", "B", "I", "UP"]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76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реальном проекте: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224520"/>
            <a:ext cx="4892040" cy="2331720"/>
          </a:xfrm>
          <a:prstGeom prst="roundRect">
            <a:avLst>
              <a:gd name="adj" fmla="val 2353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343392"/>
            <a:ext cx="4581144" cy="2148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[tool.ruff]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line-length = 100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[tool.ruff.lint]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= ["E", "F", "B"]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9677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 также поддерживает `.ruff.toml`.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Можно включать и отключать семейства правил через `select` / `ignore`.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Настройки linting и formatter находятся в одной системе конфигурации.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значат различия на практике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67320"/>
            <a:ext cx="10789920" cy="63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и тот же код не даёт один и тот же набор сообщений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767320"/>
            <a:ext cx="402336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21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смотрим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767320"/>
            <a:ext cx="210312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822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767320"/>
            <a:ext cx="210312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822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23960" y="1767320"/>
            <a:ext cx="265176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18221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3989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37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Пробелы и базовый стиль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2398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53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2398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453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23960" y="23989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4537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30305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853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Неиспользуемый импорт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17720" y="30305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0853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2916936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0853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23960" y="30305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30853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" y="36621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169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структуры функции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17720" y="36621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169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ограниченно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720840" y="36621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7169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шире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823960" y="36621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7169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зависит от правил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4360" y="42937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3485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Плагинная модель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617720" y="42937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3485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часть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720840" y="42937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3485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823960" y="42937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43485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правил встроено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94360" y="49253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9801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Автоматические исправления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17720" y="49253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980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ограниченно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720840" y="49253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4980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для части случаев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823960" y="49253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49801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94360" y="55569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6117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Formatter в том же CLI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617720" y="5556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5611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720840" y="5556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5611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823960" y="55569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0" y="56117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85800" y="6325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 показывает характер различий, а не рейтинг.</a:t>
            </a:r>
            <a:endParaRPr lang="en-US" sz="125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Сравнение по скорости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Отдельный benchmark с одинаковыми условиями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 файл: messy_benchmark.py.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Одинаковое виртуальное окружение.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Одинаковые конфиги и параметры запуска.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Несколько прогонов; в таблицу заносим median.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074920" cy="3246120"/>
          </a:xfrm>
          <a:prstGeom prst="roundRect">
            <a:avLst>
              <a:gd name="adj" fmla="val 169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53912" y="1627632"/>
            <a:ext cx="4764024" cy="3063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flake8 messy_benchmark.py *&gt; $null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pylint messy_benchmark.py *&gt; $null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ruff check messy_benchmark.py *&gt; $null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07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4407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882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358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358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833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5833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5074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Смысл: сравниваем один и тот же сценарий, а не чужой benchmark из интернета.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стоит унести из эксперимента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82880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Классическая модульная модель: базовые проверки + плагины.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82880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внимания к структуре, метрикам и поддерживаемости.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82880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встроенных правил, автоисправление и formatter в одном CLI.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373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Сравнивать стоит не только количество сообщений, а набор возможностей, конфигурацию, workflow и скорость.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379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и тот же код — хороший способ увидеть различия на практике.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СПРАВКА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Источники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Официальная документация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Flake8 — flake8.pycqa.org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Flake8: invocation — flake8.pycqa.org/en/latest/user/invocation.html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Flake8: error codes — flake8.pycqa.org/en/latest/user/error-codes.html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Pylint — pylint.readthedocs.io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Pylint: options — pylint.readthedocs.io/en/stable/user_guide/configuration/all-options.html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 — docs.astral.sh/ruff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Ruff: configuration — docs.astral.sh/ruff/configuration/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Ruff: linter — docs.astral.sh/ruff/linter/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репозитории лежат конфиги и файлы эксперимента.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2305</Words>
  <Application>Microsoft Office PowerPoint</Application>
  <PresentationFormat>Широкоэкранный</PresentationFormat>
  <Paragraphs>373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линтеров</dc:title>
  <dc:subject>Сравнение Ruff vs Flake8 vs Pylint</dc:subject>
  <dc:creator>OpenAI</dc:creator>
  <cp:lastModifiedBy>dan</cp:lastModifiedBy>
  <cp:revision>11</cp:revision>
  <dcterms:created xsi:type="dcterms:W3CDTF">2026-09-18T11:32:26Z</dcterms:created>
  <dcterms:modified xsi:type="dcterms:W3CDTF">2026-09-18T13:58:25Z</dcterms:modified>
</cp:coreProperties>
</file>